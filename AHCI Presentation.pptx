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18288000" cy="10287000"/>
  <p:notesSz cx="6858000" cy="9144000"/>
  <p:embeddedFontLst>
    <p:embeddedFont>
      <p:font typeface="Poppins Bold" charset="1" panose="00000800000000000000"/>
      <p:regular r:id="rId11"/>
    </p:embeddedFont>
    <p:embeddedFont>
      <p:font typeface="Poppins Semi-Bold" charset="1" panose="00000700000000000000"/>
      <p:regular r:id="rId12"/>
    </p:embeddedFont>
    <p:embeddedFont>
      <p:font typeface="Poppins" charset="1" panose="00000500000000000000"/>
      <p:regular r:id="rId13"/>
    </p:embeddedFont>
    <p:embeddedFont>
      <p:font typeface="Inter Bold" charset="1" panose="02000503000000020004"/>
      <p:regular r:id="rId14"/>
    </p:embeddedFont>
    <p:embeddedFont>
      <p:font typeface="Canva Sans" charset="1" panose="020B0503030501040103"/>
      <p:regular r:id="rId15"/>
    </p:embeddedFont>
    <p:embeddedFont>
      <p:font typeface="Poppins Ultra-Bold" charset="1" panose="000009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png" Type="http://schemas.openxmlformats.org/officeDocument/2006/relationships/image"/><Relationship Id="rId11" Target="../media/image19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4.png" Type="http://schemas.openxmlformats.org/officeDocument/2006/relationships/image"/><Relationship Id="rId7" Target="../media/image15.svg" Type="http://schemas.openxmlformats.org/officeDocument/2006/relationships/image"/><Relationship Id="rId8" Target="../media/image16.png" Type="http://schemas.openxmlformats.org/officeDocument/2006/relationships/image"/><Relationship Id="rId9" Target="../media/image17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0.png" Type="http://schemas.openxmlformats.org/officeDocument/2006/relationships/image"/><Relationship Id="rId5" Target="../media/image21.svg" Type="http://schemas.openxmlformats.org/officeDocument/2006/relationships/image"/><Relationship Id="rId6" Target="../media/image22.png" Type="http://schemas.openxmlformats.org/officeDocument/2006/relationships/image"/><Relationship Id="rId7" Target="../media/image23.svg" Type="http://schemas.openxmlformats.org/officeDocument/2006/relationships/image"/><Relationship Id="rId8" Target="../media/image24.png" Type="http://schemas.openxmlformats.org/officeDocument/2006/relationships/image"/><Relationship Id="rId9" Target="../media/image25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8.png" Type="http://schemas.openxmlformats.org/officeDocument/2006/relationships/image"/><Relationship Id="rId5" Target="../media/image29.svg" Type="http://schemas.openxmlformats.org/officeDocument/2006/relationships/image"/><Relationship Id="rId6" Target="../media/image30.png" Type="http://schemas.openxmlformats.org/officeDocument/2006/relationships/image"/><Relationship Id="rId7" Target="../media/image31.sv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556303"/>
            <a:ext cx="19203450" cy="39977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93"/>
              </a:lnSpc>
            </a:pPr>
            <a:r>
              <a:rPr lang="en-US" b="true" sz="12851" spc="-44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Applied Human Computer Interaction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447298" y="493191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3285511" y="651553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2736031" y="5143500"/>
            <a:ext cx="5242564" cy="693344"/>
            <a:chOff x="0" y="0"/>
            <a:chExt cx="1380757" cy="182609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380757" cy="182609"/>
            </a:xfrm>
            <a:custGeom>
              <a:avLst/>
              <a:gdLst/>
              <a:ahLst/>
              <a:cxnLst/>
              <a:rect r="r" b="b" t="t" l="l"/>
              <a:pathLst>
                <a:path h="182609" w="1380757">
                  <a:moveTo>
                    <a:pt x="91305" y="0"/>
                  </a:moveTo>
                  <a:lnTo>
                    <a:pt x="1289453" y="0"/>
                  </a:lnTo>
                  <a:cubicBezTo>
                    <a:pt x="1313668" y="0"/>
                    <a:pt x="1336892" y="9620"/>
                    <a:pt x="1354015" y="26743"/>
                  </a:cubicBezTo>
                  <a:cubicBezTo>
                    <a:pt x="1371138" y="43865"/>
                    <a:pt x="1380757" y="67089"/>
                    <a:pt x="1380757" y="91305"/>
                  </a:cubicBezTo>
                  <a:lnTo>
                    <a:pt x="1380757" y="91305"/>
                  </a:lnTo>
                  <a:cubicBezTo>
                    <a:pt x="1380757" y="115520"/>
                    <a:pt x="1371138" y="138744"/>
                    <a:pt x="1354015" y="155867"/>
                  </a:cubicBezTo>
                  <a:cubicBezTo>
                    <a:pt x="1336892" y="172990"/>
                    <a:pt x="1313668" y="182609"/>
                    <a:pt x="1289453" y="182609"/>
                  </a:cubicBezTo>
                  <a:lnTo>
                    <a:pt x="91305" y="182609"/>
                  </a:lnTo>
                  <a:cubicBezTo>
                    <a:pt x="67089" y="182609"/>
                    <a:pt x="43865" y="172990"/>
                    <a:pt x="26743" y="155867"/>
                  </a:cubicBezTo>
                  <a:cubicBezTo>
                    <a:pt x="9620" y="138744"/>
                    <a:pt x="0" y="115520"/>
                    <a:pt x="0" y="91305"/>
                  </a:cubicBezTo>
                  <a:lnTo>
                    <a:pt x="0" y="91305"/>
                  </a:lnTo>
                  <a:cubicBezTo>
                    <a:pt x="0" y="67089"/>
                    <a:pt x="9620" y="43865"/>
                    <a:pt x="26743" y="26743"/>
                  </a:cubicBezTo>
                  <a:cubicBezTo>
                    <a:pt x="43865" y="9620"/>
                    <a:pt x="67089" y="0"/>
                    <a:pt x="91305" y="0"/>
                  </a:cubicBezTo>
                  <a:close/>
                </a:path>
              </a:pathLst>
            </a:custGeom>
            <a:solidFill>
              <a:srgbClr val="1C01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1380757" cy="2397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79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990796" y="9258300"/>
            <a:ext cx="19278796" cy="1987207"/>
            <a:chOff x="0" y="0"/>
            <a:chExt cx="5077543" cy="5233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77543" cy="523380"/>
            </a:xfrm>
            <a:custGeom>
              <a:avLst/>
              <a:gdLst/>
              <a:ahLst/>
              <a:cxnLst/>
              <a:rect r="r" b="b" t="t" l="l"/>
              <a:pathLst>
                <a:path h="523380" w="5077543">
                  <a:moveTo>
                    <a:pt x="40158" y="0"/>
                  </a:moveTo>
                  <a:lnTo>
                    <a:pt x="5037385" y="0"/>
                  </a:lnTo>
                  <a:cubicBezTo>
                    <a:pt x="5059564" y="0"/>
                    <a:pt x="5077543" y="17979"/>
                    <a:pt x="5077543" y="40158"/>
                  </a:cubicBezTo>
                  <a:lnTo>
                    <a:pt x="5077543" y="483222"/>
                  </a:lnTo>
                  <a:cubicBezTo>
                    <a:pt x="5077543" y="505400"/>
                    <a:pt x="5059564" y="523380"/>
                    <a:pt x="5037385" y="523380"/>
                  </a:cubicBezTo>
                  <a:lnTo>
                    <a:pt x="40158" y="523380"/>
                  </a:lnTo>
                  <a:cubicBezTo>
                    <a:pt x="17979" y="523380"/>
                    <a:pt x="0" y="505400"/>
                    <a:pt x="0" y="483222"/>
                  </a:cubicBezTo>
                  <a:lnTo>
                    <a:pt x="0" y="40158"/>
                  </a:lnTo>
                  <a:cubicBezTo>
                    <a:pt x="0" y="17979"/>
                    <a:pt x="17979" y="0"/>
                    <a:pt x="40158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5077543" cy="58053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5482186" y="1315667"/>
            <a:ext cx="3721264" cy="1867398"/>
          </a:xfrm>
          <a:custGeom>
            <a:avLst/>
            <a:gdLst/>
            <a:ahLst/>
            <a:cxnLst/>
            <a:rect r="r" b="b" t="t" l="l"/>
            <a:pathLst>
              <a:path h="1867398" w="3721264">
                <a:moveTo>
                  <a:pt x="0" y="0"/>
                </a:moveTo>
                <a:lnTo>
                  <a:pt x="3721264" y="0"/>
                </a:lnTo>
                <a:lnTo>
                  <a:pt x="3721264" y="1867398"/>
                </a:lnTo>
                <a:lnTo>
                  <a:pt x="0" y="186739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-1251282" y="6167431"/>
            <a:ext cx="6051521" cy="3828962"/>
          </a:xfrm>
          <a:custGeom>
            <a:avLst/>
            <a:gdLst/>
            <a:ahLst/>
            <a:cxnLst/>
            <a:rect r="r" b="b" t="t" l="l"/>
            <a:pathLst>
              <a:path h="3828962" w="6051521">
                <a:moveTo>
                  <a:pt x="0" y="0"/>
                </a:moveTo>
                <a:lnTo>
                  <a:pt x="6051520" y="0"/>
                </a:lnTo>
                <a:lnTo>
                  <a:pt x="6051520" y="3828962"/>
                </a:lnTo>
                <a:lnTo>
                  <a:pt x="0" y="3828962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335544" y="478773"/>
            <a:ext cx="1855971" cy="4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988143" y="495005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886385" y="5288914"/>
            <a:ext cx="4941855" cy="3670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67"/>
              </a:lnSpc>
            </a:pPr>
            <a:r>
              <a:rPr lang="en-US" sz="2048" spc="25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CLASH ROYALE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89660" y="5125490"/>
            <a:ext cx="13341245" cy="1099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b="true" sz="3200" spc="400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REDESIGNING CLASH ROYALE WITH HCI CONCEPTS</a:t>
            </a:r>
          </a:p>
          <a:p>
            <a:pPr algn="l">
              <a:lnSpc>
                <a:spcPts val="4480"/>
              </a:lnSpc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433694" y="6111675"/>
            <a:ext cx="7997211" cy="5803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Build By a Professional Software Team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561380" y="6858321"/>
            <a:ext cx="5591865" cy="23805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Muhammad Shayan Faisal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Hamza Ahmed</a:t>
            </a:r>
          </a:p>
          <a:p>
            <a:pPr algn="r">
              <a:lnSpc>
                <a:spcPts val="4759"/>
              </a:lnSpc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Bahadur Ali</a:t>
            </a:r>
          </a:p>
          <a:p>
            <a:pPr algn="r" marL="0" indent="0" lvl="0">
              <a:lnSpc>
                <a:spcPts val="4759"/>
              </a:lnSpc>
              <a:spcBef>
                <a:spcPct val="0"/>
              </a:spcBef>
            </a:pPr>
            <a:r>
              <a:rPr lang="en-US" sz="3399">
                <a:solidFill>
                  <a:srgbClr val="FFFFFF"/>
                </a:solidFill>
                <a:latin typeface="Canva Sans"/>
                <a:ea typeface="Canva Sans"/>
                <a:cs typeface="Canva Sans"/>
                <a:sym typeface="Canva Sans"/>
              </a:rPr>
              <a:t>Muhammad Sufyan Ali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011" y="245279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408828" y="403641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5789813" y="273854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5417468" y="-208487"/>
            <a:ext cx="3197305" cy="3559753"/>
          </a:xfrm>
          <a:custGeom>
            <a:avLst/>
            <a:gdLst/>
            <a:ahLst/>
            <a:cxnLst/>
            <a:rect r="r" b="b" t="t" l="l"/>
            <a:pathLst>
              <a:path h="3559753" w="3197305">
                <a:moveTo>
                  <a:pt x="0" y="0"/>
                </a:moveTo>
                <a:lnTo>
                  <a:pt x="3197305" y="0"/>
                </a:lnTo>
                <a:lnTo>
                  <a:pt x="3197305" y="3559753"/>
                </a:lnTo>
                <a:lnTo>
                  <a:pt x="0" y="35597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672086" y="432862"/>
            <a:ext cx="1875466" cy="2277056"/>
          </a:xfrm>
          <a:custGeom>
            <a:avLst/>
            <a:gdLst/>
            <a:ahLst/>
            <a:cxnLst/>
            <a:rect r="r" b="b" t="t" l="l"/>
            <a:pathLst>
              <a:path h="2277056" w="1875466">
                <a:moveTo>
                  <a:pt x="0" y="0"/>
                </a:moveTo>
                <a:lnTo>
                  <a:pt x="1875467" y="0"/>
                </a:lnTo>
                <a:lnTo>
                  <a:pt x="1875467" y="2277056"/>
                </a:lnTo>
                <a:lnTo>
                  <a:pt x="0" y="22770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241037" y="2957568"/>
            <a:ext cx="4613033" cy="5124307"/>
          </a:xfrm>
          <a:custGeom>
            <a:avLst/>
            <a:gdLst/>
            <a:ahLst/>
            <a:cxnLst/>
            <a:rect r="r" b="b" t="t" l="l"/>
            <a:pathLst>
              <a:path h="5124307" w="4613033">
                <a:moveTo>
                  <a:pt x="0" y="0"/>
                </a:moveTo>
                <a:lnTo>
                  <a:pt x="4613032" y="0"/>
                </a:lnTo>
                <a:lnTo>
                  <a:pt x="4613032" y="5124307"/>
                </a:lnTo>
                <a:lnTo>
                  <a:pt x="0" y="5124307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-593" t="0" r="-593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373425" y="241031"/>
            <a:ext cx="1855971" cy="4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571956" y="615167"/>
            <a:ext cx="11559999" cy="114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09"/>
              </a:lnSpc>
            </a:pPr>
            <a:r>
              <a:rPr lang="en-US" b="true" sz="7151" spc="-250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Explanation of 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15011" y="2204345"/>
            <a:ext cx="13918540" cy="65758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79"/>
              </a:lnSpc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Overview: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This project focuses on improving the user interface of Clash Royale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Goal is to enhance usability, accessibility, and user experience</a:t>
            </a:r>
          </a:p>
          <a:p>
            <a:pPr algn="just">
              <a:lnSpc>
                <a:spcPts val="3979"/>
              </a:lnSpc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Approach: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Identified usability issues in existing UI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Applied HCI principles for redesign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</a:t>
            </a: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reated improved UI screens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Performed usability evaluation</a:t>
            </a:r>
          </a:p>
          <a:p>
            <a:pPr algn="just">
              <a:lnSpc>
                <a:spcPts val="3979"/>
              </a:lnSpc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Key Improvements: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Simplified and clean interface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Better visual hierarchy</a:t>
            </a:r>
          </a:p>
          <a:p>
            <a:pPr algn="just" marL="613733" indent="-306866" lvl="1">
              <a:lnSpc>
                <a:spcPts val="3979"/>
              </a:lnSpc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Consistent navigation system</a:t>
            </a:r>
          </a:p>
          <a:p>
            <a:pPr algn="just" marL="613733" indent="-306866" lvl="1">
              <a:lnSpc>
                <a:spcPts val="3979"/>
              </a:lnSpc>
              <a:spcBef>
                <a:spcPct val="0"/>
              </a:spcBef>
              <a:buFont typeface="Arial"/>
              <a:buChar char="•"/>
            </a:pPr>
            <a:r>
              <a:rPr lang="en-US" sz="2842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Reduced cognitive load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458988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659604" y="574179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6268537" y="479852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2025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4634788" y="-92911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2598614" y="757182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380000" y="2415383"/>
            <a:ext cx="2624512" cy="4233084"/>
          </a:xfrm>
          <a:custGeom>
            <a:avLst/>
            <a:gdLst/>
            <a:ahLst/>
            <a:cxnLst/>
            <a:rect r="r" b="b" t="t" l="l"/>
            <a:pathLst>
              <a:path h="4233084" w="2624512">
                <a:moveTo>
                  <a:pt x="0" y="0"/>
                </a:moveTo>
                <a:lnTo>
                  <a:pt x="2624512" y="0"/>
                </a:lnTo>
                <a:lnTo>
                  <a:pt x="2624512" y="4233084"/>
                </a:lnTo>
                <a:lnTo>
                  <a:pt x="0" y="423308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3473262" y="4140173"/>
            <a:ext cx="2036403" cy="3303898"/>
          </a:xfrm>
          <a:custGeom>
            <a:avLst/>
            <a:gdLst/>
            <a:ahLst/>
            <a:cxnLst/>
            <a:rect r="r" b="b" t="t" l="l"/>
            <a:pathLst>
              <a:path h="3303898" w="2036403">
                <a:moveTo>
                  <a:pt x="0" y="0"/>
                </a:moveTo>
                <a:lnTo>
                  <a:pt x="2036403" y="0"/>
                </a:lnTo>
                <a:lnTo>
                  <a:pt x="2036403" y="3303898"/>
                </a:lnTo>
                <a:lnTo>
                  <a:pt x="0" y="3303898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803633" y="444570"/>
            <a:ext cx="1855971" cy="4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81958" y="690507"/>
            <a:ext cx="11738261" cy="26057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95"/>
              </a:lnSpc>
            </a:pPr>
            <a:r>
              <a:rPr lang="en-US" sz="8399" spc="-293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Game Selection &amp; Problem Justification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803633" y="5143500"/>
            <a:ext cx="9859636" cy="2618579"/>
            <a:chOff x="0" y="0"/>
            <a:chExt cx="2596777" cy="689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596777" cy="689667"/>
            </a:xfrm>
            <a:custGeom>
              <a:avLst/>
              <a:gdLst/>
              <a:ahLst/>
              <a:cxnLst/>
              <a:rect r="r" b="b" t="t" l="l"/>
              <a:pathLst>
                <a:path h="689667" w="2596777">
                  <a:moveTo>
                    <a:pt x="40046" y="0"/>
                  </a:moveTo>
                  <a:lnTo>
                    <a:pt x="2556731" y="0"/>
                  </a:lnTo>
                  <a:cubicBezTo>
                    <a:pt x="2578847" y="0"/>
                    <a:pt x="2596777" y="17929"/>
                    <a:pt x="2596777" y="40046"/>
                  </a:cubicBezTo>
                  <a:lnTo>
                    <a:pt x="2596777" y="649621"/>
                  </a:lnTo>
                  <a:cubicBezTo>
                    <a:pt x="2596777" y="671738"/>
                    <a:pt x="2578847" y="689667"/>
                    <a:pt x="2556731" y="689667"/>
                  </a:cubicBezTo>
                  <a:lnTo>
                    <a:pt x="40046" y="689667"/>
                  </a:lnTo>
                  <a:cubicBezTo>
                    <a:pt x="17929" y="689667"/>
                    <a:pt x="0" y="671738"/>
                    <a:pt x="0" y="649621"/>
                  </a:cubicBezTo>
                  <a:lnTo>
                    <a:pt x="0" y="40046"/>
                  </a:lnTo>
                  <a:cubicBezTo>
                    <a:pt x="0" y="17929"/>
                    <a:pt x="17929" y="0"/>
                    <a:pt x="40046" y="0"/>
                  </a:cubicBezTo>
                  <a:close/>
                </a:path>
              </a:pathLst>
            </a:custGeom>
            <a:solidFill>
              <a:srgbClr val="FF9F9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596777" cy="74681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59489" y="5272503"/>
            <a:ext cx="9147924" cy="2685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944" indent="-284972" lvl="1">
              <a:lnSpc>
                <a:spcPts val="3695"/>
              </a:lnSpc>
              <a:buFont typeface="Arial"/>
              <a:buChar char="•"/>
            </a:pPr>
            <a:r>
              <a:rPr lang="en-US" b="true" sz="26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Clash Royale</a:t>
            </a:r>
            <a:r>
              <a:rPr lang="en-US" b="true" sz="26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is a popular strategy game</a:t>
            </a:r>
          </a:p>
          <a:p>
            <a:pPr algn="l" marL="569944" indent="-284972" lvl="1">
              <a:lnSpc>
                <a:spcPts val="3695"/>
              </a:lnSpc>
              <a:buFont typeface="Arial"/>
              <a:buChar char="•"/>
            </a:pPr>
            <a:r>
              <a:rPr lang="en-US" b="true" sz="26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Contains complex interface and multiple features</a:t>
            </a:r>
          </a:p>
          <a:p>
            <a:pPr algn="l" marL="569944" indent="-284972" lvl="1">
              <a:lnSpc>
                <a:spcPts val="3695"/>
              </a:lnSpc>
              <a:buFont typeface="Arial"/>
              <a:buChar char="•"/>
            </a:pPr>
            <a:r>
              <a:rPr lang="en-US" b="true" sz="26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High cognitive load for new users</a:t>
            </a:r>
          </a:p>
          <a:p>
            <a:pPr algn="l" marL="569944" indent="-284972" lvl="1">
              <a:lnSpc>
                <a:spcPts val="3695"/>
              </a:lnSpc>
              <a:buFont typeface="Arial"/>
              <a:buChar char="•"/>
            </a:pPr>
            <a:r>
              <a:rPr lang="en-US" b="true" sz="26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UI lacks clarity and consistency</a:t>
            </a:r>
          </a:p>
          <a:p>
            <a:pPr algn="l" marL="569944" indent="-284972" lvl="1">
              <a:lnSpc>
                <a:spcPts val="3695"/>
              </a:lnSpc>
              <a:buFont typeface="Arial"/>
              <a:buChar char="•"/>
            </a:pPr>
            <a:r>
              <a:rPr lang="en-US" b="true" sz="263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Strong potential for usability improvement</a:t>
            </a:r>
          </a:p>
          <a:p>
            <a:pPr algn="l" marL="0" indent="0" lvl="0">
              <a:lnSpc>
                <a:spcPts val="2715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15011" y="309116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9" y="0"/>
                </a:lnTo>
                <a:lnTo>
                  <a:pt x="613689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229396" y="529521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0">
            <a:off x="15130611" y="174915"/>
            <a:ext cx="3409941" cy="2913949"/>
          </a:xfrm>
          <a:custGeom>
            <a:avLst/>
            <a:gdLst/>
            <a:ahLst/>
            <a:cxnLst/>
            <a:rect r="r" b="b" t="t" l="l"/>
            <a:pathLst>
              <a:path h="2913949" w="3409941">
                <a:moveTo>
                  <a:pt x="0" y="0"/>
                </a:moveTo>
                <a:lnTo>
                  <a:pt x="3409940" y="0"/>
                </a:lnTo>
                <a:lnTo>
                  <a:pt x="3409940" y="2913949"/>
                </a:lnTo>
                <a:lnTo>
                  <a:pt x="0" y="29139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2399409" y="-359887"/>
            <a:ext cx="4436172" cy="5661009"/>
          </a:xfrm>
          <a:custGeom>
            <a:avLst/>
            <a:gdLst/>
            <a:ahLst/>
            <a:cxnLst/>
            <a:rect r="r" b="b" t="t" l="l"/>
            <a:pathLst>
              <a:path h="5661009" w="4436172">
                <a:moveTo>
                  <a:pt x="0" y="0"/>
                </a:moveTo>
                <a:lnTo>
                  <a:pt x="4436172" y="0"/>
                </a:lnTo>
                <a:lnTo>
                  <a:pt x="4436172" y="5661009"/>
                </a:lnTo>
                <a:lnTo>
                  <a:pt x="0" y="566100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804642" y="1456975"/>
            <a:ext cx="2909315" cy="4969328"/>
          </a:xfrm>
          <a:custGeom>
            <a:avLst/>
            <a:gdLst/>
            <a:ahLst/>
            <a:cxnLst/>
            <a:rect r="r" b="b" t="t" l="l"/>
            <a:pathLst>
              <a:path h="4969328" w="2909315">
                <a:moveTo>
                  <a:pt x="0" y="0"/>
                </a:moveTo>
                <a:lnTo>
                  <a:pt x="2909316" y="0"/>
                </a:lnTo>
                <a:lnTo>
                  <a:pt x="2909316" y="4969327"/>
                </a:lnTo>
                <a:lnTo>
                  <a:pt x="0" y="496932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415011" y="4918006"/>
            <a:ext cx="3359173" cy="4114800"/>
          </a:xfrm>
          <a:custGeom>
            <a:avLst/>
            <a:gdLst/>
            <a:ahLst/>
            <a:cxnLst/>
            <a:rect r="r" b="b" t="t" l="l"/>
            <a:pathLst>
              <a:path h="4114800" w="3359173">
                <a:moveTo>
                  <a:pt x="0" y="0"/>
                </a:moveTo>
                <a:lnTo>
                  <a:pt x="3359173" y="0"/>
                </a:lnTo>
                <a:lnTo>
                  <a:pt x="33591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435519" y="294697"/>
            <a:ext cx="1855971" cy="4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988143" y="392023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2025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630940" y="730877"/>
            <a:ext cx="14893302" cy="114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Usability Problems Identification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546282" y="3687452"/>
            <a:ext cx="11071213" cy="4076325"/>
            <a:chOff x="0" y="0"/>
            <a:chExt cx="2915875" cy="10736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915875" cy="1073600"/>
            </a:xfrm>
            <a:custGeom>
              <a:avLst/>
              <a:gdLst/>
              <a:ahLst/>
              <a:cxnLst/>
              <a:rect r="r" b="b" t="t" l="l"/>
              <a:pathLst>
                <a:path h="1073600" w="2915875">
                  <a:moveTo>
                    <a:pt x="35663" y="0"/>
                  </a:moveTo>
                  <a:lnTo>
                    <a:pt x="2880211" y="0"/>
                  </a:lnTo>
                  <a:cubicBezTo>
                    <a:pt x="2889670" y="0"/>
                    <a:pt x="2898741" y="3757"/>
                    <a:pt x="2905429" y="10446"/>
                  </a:cubicBezTo>
                  <a:cubicBezTo>
                    <a:pt x="2912118" y="17134"/>
                    <a:pt x="2915875" y="26205"/>
                    <a:pt x="2915875" y="35663"/>
                  </a:cubicBezTo>
                  <a:lnTo>
                    <a:pt x="2915875" y="1037937"/>
                  </a:lnTo>
                  <a:cubicBezTo>
                    <a:pt x="2915875" y="1047395"/>
                    <a:pt x="2912118" y="1056466"/>
                    <a:pt x="2905429" y="1063155"/>
                  </a:cubicBezTo>
                  <a:cubicBezTo>
                    <a:pt x="2898741" y="1069843"/>
                    <a:pt x="2889670" y="1073600"/>
                    <a:pt x="2880211" y="1073600"/>
                  </a:cubicBezTo>
                  <a:lnTo>
                    <a:pt x="35663" y="1073600"/>
                  </a:lnTo>
                  <a:cubicBezTo>
                    <a:pt x="15967" y="1073600"/>
                    <a:pt x="0" y="1057633"/>
                    <a:pt x="0" y="1037937"/>
                  </a:cubicBezTo>
                  <a:lnTo>
                    <a:pt x="0" y="35663"/>
                  </a:lnTo>
                  <a:cubicBezTo>
                    <a:pt x="0" y="26205"/>
                    <a:pt x="3757" y="17134"/>
                    <a:pt x="10446" y="10446"/>
                  </a:cubicBezTo>
                  <a:cubicBezTo>
                    <a:pt x="17134" y="3757"/>
                    <a:pt x="26205" y="0"/>
                    <a:pt x="35663" y="0"/>
                  </a:cubicBezTo>
                  <a:close/>
                </a:path>
              </a:pathLst>
            </a:custGeom>
            <a:solidFill>
              <a:srgbClr val="A6EF8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915875" cy="11307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089780" y="4116263"/>
            <a:ext cx="8088943" cy="3152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9976" indent="-284988" lvl="1">
              <a:lnSpc>
                <a:spcPts val="3696"/>
              </a:lnSpc>
              <a:buFont typeface="Arial"/>
              <a:buChar char="•"/>
            </a:pP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lut</a:t>
            </a: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tered interface with too many elements</a:t>
            </a:r>
          </a:p>
          <a:p>
            <a:pPr algn="l" marL="569976" indent="-284988" lvl="1">
              <a:lnSpc>
                <a:spcPts val="3696"/>
              </a:lnSpc>
              <a:buFont typeface="Arial"/>
              <a:buChar char="•"/>
            </a:pP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Poor visual hierarchy</a:t>
            </a:r>
          </a:p>
          <a:p>
            <a:pPr algn="l" marL="569976" indent="-284988" lvl="1">
              <a:lnSpc>
                <a:spcPts val="3696"/>
              </a:lnSpc>
              <a:buFont typeface="Arial"/>
              <a:buChar char="•"/>
            </a:pP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Small buttons causing misclicks</a:t>
            </a:r>
          </a:p>
          <a:p>
            <a:pPr algn="l" marL="569976" indent="-284988" lvl="1">
              <a:lnSpc>
                <a:spcPts val="3696"/>
              </a:lnSpc>
              <a:buFont typeface="Arial"/>
              <a:buChar char="•"/>
            </a:pP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Confusing navigation</a:t>
            </a:r>
          </a:p>
          <a:p>
            <a:pPr algn="l" marL="569976" indent="-284988" lvl="1">
              <a:lnSpc>
                <a:spcPts val="3696"/>
              </a:lnSpc>
              <a:buFont typeface="Arial"/>
              <a:buChar char="•"/>
            </a:pP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High cognitive load</a:t>
            </a:r>
          </a:p>
          <a:p>
            <a:pPr algn="l" marL="569976" indent="-284988" lvl="1">
              <a:lnSpc>
                <a:spcPts val="3696"/>
              </a:lnSpc>
              <a:buFont typeface="Arial"/>
              <a:buChar char="•"/>
            </a:pPr>
            <a:r>
              <a:rPr lang="en-US" b="true" sz="2640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Weak system feedback</a:t>
            </a:r>
          </a:p>
          <a:p>
            <a:pPr algn="l" marL="0" indent="0" lvl="0">
              <a:lnSpc>
                <a:spcPts val="2716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376BE9">
                <a:alpha val="100000"/>
              </a:srgbClr>
            </a:gs>
            <a:gs pos="100000">
              <a:srgbClr val="0D379B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21856" y="433864"/>
            <a:ext cx="613689" cy="354824"/>
          </a:xfrm>
          <a:custGeom>
            <a:avLst/>
            <a:gdLst/>
            <a:ahLst/>
            <a:cxnLst/>
            <a:rect r="r" b="b" t="t" l="l"/>
            <a:pathLst>
              <a:path h="354824" w="613689">
                <a:moveTo>
                  <a:pt x="0" y="0"/>
                </a:moveTo>
                <a:lnTo>
                  <a:pt x="613688" y="0"/>
                </a:lnTo>
                <a:lnTo>
                  <a:pt x="613688" y="354824"/>
                </a:lnTo>
                <a:lnTo>
                  <a:pt x="0" y="35482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3949040" y="611276"/>
            <a:ext cx="1182920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1021988" y="850731"/>
            <a:ext cx="2858935" cy="4343685"/>
          </a:xfrm>
          <a:custGeom>
            <a:avLst/>
            <a:gdLst/>
            <a:ahLst/>
            <a:cxnLst/>
            <a:rect r="r" b="b" t="t" l="l"/>
            <a:pathLst>
              <a:path h="4343685" w="2858935">
                <a:moveTo>
                  <a:pt x="0" y="0"/>
                </a:moveTo>
                <a:lnTo>
                  <a:pt x="2858934" y="0"/>
                </a:lnTo>
                <a:lnTo>
                  <a:pt x="2858934" y="4343686"/>
                </a:lnTo>
                <a:lnTo>
                  <a:pt x="0" y="43436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990796" y="9258300"/>
            <a:ext cx="18250096" cy="1881172"/>
            <a:chOff x="0" y="0"/>
            <a:chExt cx="4806610" cy="49545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06610" cy="495453"/>
            </a:xfrm>
            <a:custGeom>
              <a:avLst/>
              <a:gdLst/>
              <a:ahLst/>
              <a:cxnLst/>
              <a:rect r="r" b="b" t="t" l="l"/>
              <a:pathLst>
                <a:path h="495453" w="4806610">
                  <a:moveTo>
                    <a:pt x="42421" y="0"/>
                  </a:moveTo>
                  <a:lnTo>
                    <a:pt x="4764189" y="0"/>
                  </a:lnTo>
                  <a:cubicBezTo>
                    <a:pt x="4775439" y="0"/>
                    <a:pt x="4786229" y="4469"/>
                    <a:pt x="4794185" y="12425"/>
                  </a:cubicBezTo>
                  <a:cubicBezTo>
                    <a:pt x="4802140" y="20380"/>
                    <a:pt x="4806610" y="31170"/>
                    <a:pt x="4806610" y="42421"/>
                  </a:cubicBezTo>
                  <a:lnTo>
                    <a:pt x="4806610" y="453031"/>
                  </a:lnTo>
                  <a:cubicBezTo>
                    <a:pt x="4806610" y="464282"/>
                    <a:pt x="4802140" y="475072"/>
                    <a:pt x="4794185" y="483028"/>
                  </a:cubicBezTo>
                  <a:cubicBezTo>
                    <a:pt x="4786229" y="490983"/>
                    <a:pt x="4775439" y="495453"/>
                    <a:pt x="4764189" y="495453"/>
                  </a:cubicBezTo>
                  <a:lnTo>
                    <a:pt x="42421" y="495453"/>
                  </a:lnTo>
                  <a:cubicBezTo>
                    <a:pt x="31170" y="495453"/>
                    <a:pt x="20380" y="490983"/>
                    <a:pt x="12425" y="483028"/>
                  </a:cubicBezTo>
                  <a:cubicBezTo>
                    <a:pt x="4469" y="475072"/>
                    <a:pt x="0" y="464282"/>
                    <a:pt x="0" y="453031"/>
                  </a:cubicBezTo>
                  <a:lnTo>
                    <a:pt x="0" y="42421"/>
                  </a:lnTo>
                  <a:cubicBezTo>
                    <a:pt x="0" y="31170"/>
                    <a:pt x="4469" y="20380"/>
                    <a:pt x="12425" y="12425"/>
                  </a:cubicBezTo>
                  <a:cubicBezTo>
                    <a:pt x="20380" y="4469"/>
                    <a:pt x="31170" y="0"/>
                    <a:pt x="42421" y="0"/>
                  </a:cubicBezTo>
                  <a:close/>
                </a:path>
              </a:pathLst>
            </a:custGeom>
            <a:solidFill>
              <a:srgbClr val="FFFFFF"/>
            </a:solidFill>
            <a:ln w="38100" cap="rnd">
              <a:solidFill>
                <a:srgbClr val="1C014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4806610" cy="5526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6488550" y="611276"/>
            <a:ext cx="1799450" cy="2618248"/>
          </a:xfrm>
          <a:custGeom>
            <a:avLst/>
            <a:gdLst/>
            <a:ahLst/>
            <a:cxnLst/>
            <a:rect r="r" b="b" t="t" l="l"/>
            <a:pathLst>
              <a:path h="2618248" w="1799450">
                <a:moveTo>
                  <a:pt x="0" y="0"/>
                </a:moveTo>
                <a:lnTo>
                  <a:pt x="1799450" y="0"/>
                </a:lnTo>
                <a:lnTo>
                  <a:pt x="1799450" y="2618248"/>
                </a:lnTo>
                <a:lnTo>
                  <a:pt x="0" y="261824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7400360" y="3364619"/>
            <a:ext cx="3920282" cy="4114800"/>
          </a:xfrm>
          <a:custGeom>
            <a:avLst/>
            <a:gdLst/>
            <a:ahLst/>
            <a:cxnLst/>
            <a:rect r="r" b="b" t="t" l="l"/>
            <a:pathLst>
              <a:path h="4114800" w="3920282">
                <a:moveTo>
                  <a:pt x="0" y="0"/>
                </a:moveTo>
                <a:lnTo>
                  <a:pt x="3920282" y="0"/>
                </a:lnTo>
                <a:lnTo>
                  <a:pt x="3920282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3026122" y="2035993"/>
            <a:ext cx="5136374" cy="3390102"/>
            <a:chOff x="0" y="0"/>
            <a:chExt cx="1352790" cy="89286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52790" cy="892866"/>
            </a:xfrm>
            <a:custGeom>
              <a:avLst/>
              <a:gdLst/>
              <a:ahLst/>
              <a:cxnLst/>
              <a:rect r="r" b="b" t="t" l="l"/>
              <a:pathLst>
                <a:path h="892866" w="1352790">
                  <a:moveTo>
                    <a:pt x="76871" y="0"/>
                  </a:moveTo>
                  <a:lnTo>
                    <a:pt x="1275919" y="0"/>
                  </a:lnTo>
                  <a:cubicBezTo>
                    <a:pt x="1296307" y="0"/>
                    <a:pt x="1315859" y="8099"/>
                    <a:pt x="1330275" y="22515"/>
                  </a:cubicBezTo>
                  <a:cubicBezTo>
                    <a:pt x="1344691" y="36931"/>
                    <a:pt x="1352790" y="56484"/>
                    <a:pt x="1352790" y="76871"/>
                  </a:cubicBezTo>
                  <a:lnTo>
                    <a:pt x="1352790" y="815995"/>
                  </a:lnTo>
                  <a:cubicBezTo>
                    <a:pt x="1352790" y="836383"/>
                    <a:pt x="1344691" y="855935"/>
                    <a:pt x="1330275" y="870351"/>
                  </a:cubicBezTo>
                  <a:cubicBezTo>
                    <a:pt x="1315859" y="884767"/>
                    <a:pt x="1296307" y="892866"/>
                    <a:pt x="1275919" y="892866"/>
                  </a:cubicBezTo>
                  <a:lnTo>
                    <a:pt x="76871" y="892866"/>
                  </a:lnTo>
                  <a:cubicBezTo>
                    <a:pt x="56484" y="892866"/>
                    <a:pt x="36931" y="884767"/>
                    <a:pt x="22515" y="870351"/>
                  </a:cubicBezTo>
                  <a:cubicBezTo>
                    <a:pt x="8099" y="855935"/>
                    <a:pt x="0" y="836383"/>
                    <a:pt x="0" y="815995"/>
                  </a:cubicBezTo>
                  <a:lnTo>
                    <a:pt x="0" y="76871"/>
                  </a:lnTo>
                  <a:cubicBezTo>
                    <a:pt x="0" y="56484"/>
                    <a:pt x="8099" y="36931"/>
                    <a:pt x="22515" y="22515"/>
                  </a:cubicBezTo>
                  <a:cubicBezTo>
                    <a:pt x="36931" y="8099"/>
                    <a:pt x="56484" y="0"/>
                    <a:pt x="76871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1352790" cy="950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41873" y="2178791"/>
            <a:ext cx="5136374" cy="3390102"/>
            <a:chOff x="0" y="0"/>
            <a:chExt cx="1352790" cy="89286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52790" cy="892866"/>
            </a:xfrm>
            <a:custGeom>
              <a:avLst/>
              <a:gdLst/>
              <a:ahLst/>
              <a:cxnLst/>
              <a:rect r="r" b="b" t="t" l="l"/>
              <a:pathLst>
                <a:path h="892866" w="1352790">
                  <a:moveTo>
                    <a:pt x="76871" y="0"/>
                  </a:moveTo>
                  <a:lnTo>
                    <a:pt x="1275919" y="0"/>
                  </a:lnTo>
                  <a:cubicBezTo>
                    <a:pt x="1296307" y="0"/>
                    <a:pt x="1315859" y="8099"/>
                    <a:pt x="1330275" y="22515"/>
                  </a:cubicBezTo>
                  <a:cubicBezTo>
                    <a:pt x="1344691" y="36931"/>
                    <a:pt x="1352790" y="56484"/>
                    <a:pt x="1352790" y="76871"/>
                  </a:cubicBezTo>
                  <a:lnTo>
                    <a:pt x="1352790" y="815995"/>
                  </a:lnTo>
                  <a:cubicBezTo>
                    <a:pt x="1352790" y="836383"/>
                    <a:pt x="1344691" y="855935"/>
                    <a:pt x="1330275" y="870351"/>
                  </a:cubicBezTo>
                  <a:cubicBezTo>
                    <a:pt x="1315859" y="884767"/>
                    <a:pt x="1296307" y="892866"/>
                    <a:pt x="1275919" y="892866"/>
                  </a:cubicBezTo>
                  <a:lnTo>
                    <a:pt x="76871" y="892866"/>
                  </a:lnTo>
                  <a:cubicBezTo>
                    <a:pt x="56484" y="892866"/>
                    <a:pt x="36931" y="884767"/>
                    <a:pt x="22515" y="870351"/>
                  </a:cubicBezTo>
                  <a:cubicBezTo>
                    <a:pt x="8099" y="855935"/>
                    <a:pt x="0" y="836383"/>
                    <a:pt x="0" y="815995"/>
                  </a:cubicBezTo>
                  <a:lnTo>
                    <a:pt x="0" y="76871"/>
                  </a:lnTo>
                  <a:cubicBezTo>
                    <a:pt x="0" y="56484"/>
                    <a:pt x="8099" y="36931"/>
                    <a:pt x="22515" y="22515"/>
                  </a:cubicBezTo>
                  <a:cubicBezTo>
                    <a:pt x="36931" y="8099"/>
                    <a:pt x="56484" y="0"/>
                    <a:pt x="76871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57150"/>
              <a:ext cx="1352790" cy="950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026122" y="5647146"/>
            <a:ext cx="5136374" cy="3390102"/>
            <a:chOff x="0" y="0"/>
            <a:chExt cx="1352790" cy="89286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1352790" cy="892866"/>
            </a:xfrm>
            <a:custGeom>
              <a:avLst/>
              <a:gdLst/>
              <a:ahLst/>
              <a:cxnLst/>
              <a:rect r="r" b="b" t="t" l="l"/>
              <a:pathLst>
                <a:path h="892866" w="1352790">
                  <a:moveTo>
                    <a:pt x="76871" y="0"/>
                  </a:moveTo>
                  <a:lnTo>
                    <a:pt x="1275919" y="0"/>
                  </a:lnTo>
                  <a:cubicBezTo>
                    <a:pt x="1296307" y="0"/>
                    <a:pt x="1315859" y="8099"/>
                    <a:pt x="1330275" y="22515"/>
                  </a:cubicBezTo>
                  <a:cubicBezTo>
                    <a:pt x="1344691" y="36931"/>
                    <a:pt x="1352790" y="56484"/>
                    <a:pt x="1352790" y="76871"/>
                  </a:cubicBezTo>
                  <a:lnTo>
                    <a:pt x="1352790" y="815995"/>
                  </a:lnTo>
                  <a:cubicBezTo>
                    <a:pt x="1352790" y="836383"/>
                    <a:pt x="1344691" y="855935"/>
                    <a:pt x="1330275" y="870351"/>
                  </a:cubicBezTo>
                  <a:cubicBezTo>
                    <a:pt x="1315859" y="884767"/>
                    <a:pt x="1296307" y="892866"/>
                    <a:pt x="1275919" y="892866"/>
                  </a:cubicBezTo>
                  <a:lnTo>
                    <a:pt x="76871" y="892866"/>
                  </a:lnTo>
                  <a:cubicBezTo>
                    <a:pt x="56484" y="892866"/>
                    <a:pt x="36931" y="884767"/>
                    <a:pt x="22515" y="870351"/>
                  </a:cubicBezTo>
                  <a:cubicBezTo>
                    <a:pt x="8099" y="855935"/>
                    <a:pt x="0" y="836383"/>
                    <a:pt x="0" y="815995"/>
                  </a:cubicBezTo>
                  <a:lnTo>
                    <a:pt x="0" y="76871"/>
                  </a:lnTo>
                  <a:cubicBezTo>
                    <a:pt x="0" y="56484"/>
                    <a:pt x="8099" y="36931"/>
                    <a:pt x="22515" y="22515"/>
                  </a:cubicBezTo>
                  <a:cubicBezTo>
                    <a:pt x="36931" y="8099"/>
                    <a:pt x="56484" y="0"/>
                    <a:pt x="76871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57150"/>
              <a:ext cx="1352790" cy="950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0641873" y="5730818"/>
            <a:ext cx="5136374" cy="3390102"/>
            <a:chOff x="0" y="0"/>
            <a:chExt cx="1352790" cy="892866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352790" cy="892866"/>
            </a:xfrm>
            <a:custGeom>
              <a:avLst/>
              <a:gdLst/>
              <a:ahLst/>
              <a:cxnLst/>
              <a:rect r="r" b="b" t="t" l="l"/>
              <a:pathLst>
                <a:path h="892866" w="1352790">
                  <a:moveTo>
                    <a:pt x="76871" y="0"/>
                  </a:moveTo>
                  <a:lnTo>
                    <a:pt x="1275919" y="0"/>
                  </a:lnTo>
                  <a:cubicBezTo>
                    <a:pt x="1296307" y="0"/>
                    <a:pt x="1315859" y="8099"/>
                    <a:pt x="1330275" y="22515"/>
                  </a:cubicBezTo>
                  <a:cubicBezTo>
                    <a:pt x="1344691" y="36931"/>
                    <a:pt x="1352790" y="56484"/>
                    <a:pt x="1352790" y="76871"/>
                  </a:cubicBezTo>
                  <a:lnTo>
                    <a:pt x="1352790" y="815995"/>
                  </a:lnTo>
                  <a:cubicBezTo>
                    <a:pt x="1352790" y="836383"/>
                    <a:pt x="1344691" y="855935"/>
                    <a:pt x="1330275" y="870351"/>
                  </a:cubicBezTo>
                  <a:cubicBezTo>
                    <a:pt x="1315859" y="884767"/>
                    <a:pt x="1296307" y="892866"/>
                    <a:pt x="1275919" y="892866"/>
                  </a:cubicBezTo>
                  <a:lnTo>
                    <a:pt x="76871" y="892866"/>
                  </a:lnTo>
                  <a:cubicBezTo>
                    <a:pt x="56484" y="892866"/>
                    <a:pt x="36931" y="884767"/>
                    <a:pt x="22515" y="870351"/>
                  </a:cubicBezTo>
                  <a:cubicBezTo>
                    <a:pt x="8099" y="855935"/>
                    <a:pt x="0" y="836383"/>
                    <a:pt x="0" y="815995"/>
                  </a:cubicBezTo>
                  <a:lnTo>
                    <a:pt x="0" y="76871"/>
                  </a:lnTo>
                  <a:cubicBezTo>
                    <a:pt x="0" y="56484"/>
                    <a:pt x="8099" y="36931"/>
                    <a:pt x="22515" y="22515"/>
                  </a:cubicBezTo>
                  <a:cubicBezTo>
                    <a:pt x="36931" y="8099"/>
                    <a:pt x="56484" y="0"/>
                    <a:pt x="76871" y="0"/>
                  </a:cubicBezTo>
                  <a:close/>
                </a:path>
              </a:pathLst>
            </a:custGeom>
            <a:solidFill>
              <a:srgbClr val="9FCDFF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1352790" cy="95001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67"/>
                </a:lnSpc>
              </a:pP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1836946" y="419446"/>
            <a:ext cx="1855971" cy="4312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4"/>
              </a:lnSpc>
            </a:pPr>
            <a:r>
              <a:rPr lang="en-US" sz="3161" spc="-161" b="true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Project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411862" y="454728"/>
            <a:ext cx="847438" cy="341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63"/>
              </a:lnSpc>
            </a:pPr>
            <a:r>
              <a:rPr lang="en-US" b="true" sz="2461" spc="-125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2025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102293" y="760113"/>
            <a:ext cx="12801142" cy="1142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09"/>
              </a:lnSpc>
            </a:pPr>
            <a:r>
              <a:rPr lang="en-US" sz="7151" spc="-250" b="true">
                <a:solidFill>
                  <a:srgbClr val="FFFFFF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Application of HCI Principles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102293" y="2262541"/>
            <a:ext cx="4830473" cy="29750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C</a:t>
            </a: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on</a:t>
            </a: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siste</a:t>
            </a: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ncy</a:t>
            </a:r>
          </a:p>
          <a:p>
            <a:pPr algn="l" marL="461996" indent="-230998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Same color scheme (dark blue + orange highlights)</a:t>
            </a:r>
          </a:p>
          <a:p>
            <a:pPr algn="l" marL="461996" indent="-230998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Uniform button styles and icons</a:t>
            </a:r>
          </a:p>
          <a:p>
            <a:pPr algn="l" marL="461996" indent="-230998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Consistent bottom navigation bar</a:t>
            </a:r>
          </a:p>
          <a:p>
            <a:pPr algn="l">
              <a:lnSpc>
                <a:spcPts val="2995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10767060" y="2266916"/>
            <a:ext cx="5136374" cy="29750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Visu</a:t>
            </a: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al Hierarchy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Primary action (Battle button) is large and centered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Important sections are clearly separated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Use of size, color, and spacing to guide attention</a:t>
            </a:r>
          </a:p>
          <a:p>
            <a:pPr algn="l">
              <a:lnSpc>
                <a:spcPts val="2995"/>
              </a:lnSpc>
            </a:pPr>
          </a:p>
        </p:txBody>
      </p:sp>
      <p:sp>
        <p:nvSpPr>
          <p:cNvPr name="TextBox 27" id="27"/>
          <p:cNvSpPr txBox="true"/>
          <p:nvPr/>
        </p:nvSpPr>
        <p:spPr>
          <a:xfrm rot="0">
            <a:off x="3102292" y="5780659"/>
            <a:ext cx="5136374" cy="26034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Cognitive L</a:t>
            </a: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oad Reduction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Reduced clutter by grouping related elements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Removed unnecessary visual noise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Simplified card layout</a:t>
            </a:r>
          </a:p>
          <a:p>
            <a:pPr algn="l">
              <a:lnSpc>
                <a:spcPts val="2995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10891316" y="5966423"/>
            <a:ext cx="4637488" cy="22319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95"/>
              </a:lnSpc>
            </a:pP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User</a:t>
            </a:r>
            <a:r>
              <a:rPr lang="en-US" sz="2139" b="true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 Control &amp; Freedom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Easy navig</a:t>
            </a: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ation via bottom menu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Clear back/forward actions</a:t>
            </a:r>
          </a:p>
          <a:p>
            <a:pPr algn="l" marL="462025" indent="-231013" lvl="1">
              <a:lnSpc>
                <a:spcPts val="2995"/>
              </a:lnSpc>
              <a:buFont typeface="Arial"/>
              <a:buChar char="•"/>
            </a:pPr>
            <a:r>
              <a:rPr lang="en-US" b="true" sz="2139">
                <a:solidFill>
                  <a:srgbClr val="1C0140"/>
                </a:solidFill>
                <a:latin typeface="Poppins Bold"/>
                <a:ea typeface="Poppins Bold"/>
                <a:cs typeface="Poppins Bold"/>
                <a:sym typeface="Poppins Bold"/>
              </a:rPr>
              <a:t>Logical screen transitions</a:t>
            </a:r>
          </a:p>
          <a:p>
            <a:pPr algn="l">
              <a:lnSpc>
                <a:spcPts val="2995"/>
              </a:lnSpc>
            </a:p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DAHIis6aTlA</dc:identifier>
  <dcterms:modified xsi:type="dcterms:W3CDTF">2011-08-01T06:04:30Z</dcterms:modified>
  <cp:revision>1</cp:revision>
  <dc:title>AHCI Presentation</dc:title>
</cp:coreProperties>
</file>